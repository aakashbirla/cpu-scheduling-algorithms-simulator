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Patrick Hand"/>
      <p:regular r:id="rId18"/>
    </p:embeddedFont>
    <p:embeddedFont>
      <p:font typeface="Exo Medium"/>
      <p:regular r:id="rId19"/>
      <p:bold r:id="rId20"/>
      <p:italic r:id="rId21"/>
      <p:boldItalic r:id="rId22"/>
    </p:embeddedFont>
    <p:embeddedFont>
      <p:font typeface="Sansit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Medium-bold.fntdata"/><Relationship Id="rId22" Type="http://schemas.openxmlformats.org/officeDocument/2006/relationships/font" Target="fonts/ExoMedium-boldItalic.fntdata"/><Relationship Id="rId21" Type="http://schemas.openxmlformats.org/officeDocument/2006/relationships/font" Target="fonts/ExoMedium-italic.fntdata"/><Relationship Id="rId24" Type="http://schemas.openxmlformats.org/officeDocument/2006/relationships/font" Target="fonts/Sansita-bold.fntdata"/><Relationship Id="rId23" Type="http://schemas.openxmlformats.org/officeDocument/2006/relationships/font" Target="fonts/Sansit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ansita-boldItalic.fntdata"/><Relationship Id="rId25" Type="http://schemas.openxmlformats.org/officeDocument/2006/relationships/font" Target="fonts/Sansit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ExoMedium-regular.fntdata"/><Relationship Id="rId18" Type="http://schemas.openxmlformats.org/officeDocument/2006/relationships/font" Target="fonts/PatrickHa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8712ccd0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8712ccd0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d8712ccd0c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8712ccd0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8712ccd0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8712ccd0c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8712ccd0c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8712ccd0c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d8712ccd0c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4984" y="1650369"/>
            <a:ext cx="14471700" cy="21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00" lIns="146200" spcFirstLastPara="1" rIns="146200" wrap="square" tIns="1462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TECHNOLOGY</a:t>
            </a:r>
            <a:br>
              <a:rPr b="1" lang="en-US" sz="38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838">
                <a:latin typeface="Times New Roman"/>
                <a:ea typeface="Times New Roman"/>
                <a:cs typeface="Times New Roman"/>
                <a:sym typeface="Times New Roman"/>
              </a:rPr>
              <a:t>CPU Scheduling Algorithm Simulator</a:t>
            </a:r>
            <a:endParaRPr b="1" sz="8475">
              <a:solidFill>
                <a:srgbClr val="B3533B"/>
              </a:solidFill>
              <a:latin typeface="Sansita"/>
              <a:ea typeface="Sansita"/>
              <a:cs typeface="Sansita"/>
              <a:sym typeface="Sansit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986603" y="4447505"/>
            <a:ext cx="59049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00" lIns="146200" spcFirstLastPara="1" rIns="146200" wrap="square" tIns="146200">
            <a:noAutofit/>
          </a:bodyPr>
          <a:lstStyle/>
          <a:p>
            <a:pPr indent="-507705" lvl="0" marL="731096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                                                                              </a:t>
            </a:r>
            <a:endParaRPr sz="2559">
              <a:solidFill>
                <a:srgbClr val="000000"/>
              </a:solidFill>
              <a:latin typeface="Exo Medium"/>
              <a:ea typeface="Exo Medium"/>
              <a:cs typeface="Exo Medium"/>
              <a:sym typeface="Exo Medium"/>
            </a:endParaRPr>
          </a:p>
          <a:p>
            <a:pPr indent="0" lvl="0" marL="22339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8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Aakash Birla BTIT24O1001</a:t>
            </a:r>
            <a:endParaRPr sz="2459">
              <a:solidFill>
                <a:srgbClr val="000000"/>
              </a:solidFill>
              <a:latin typeface="Exo Medium"/>
              <a:ea typeface="Exo Medium"/>
              <a:cs typeface="Exo Medium"/>
              <a:sym typeface="Exo Medium"/>
            </a:endParaRPr>
          </a:p>
          <a:p>
            <a:pPr indent="0" lvl="0" marL="22339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8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Atharv Chaturvedi BTIT24O1037</a:t>
            </a:r>
            <a:endParaRPr sz="3018">
              <a:solidFill>
                <a:srgbClr val="0C0C0C"/>
              </a:solidFill>
              <a:latin typeface="Exo Medium"/>
              <a:ea typeface="Exo Medium"/>
              <a:cs typeface="Exo Medium"/>
              <a:sym typeface="Exo Medium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399" cy="154473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0479038" y="4447505"/>
            <a:ext cx="37773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00" lIns="109650" spcFirstLastPara="1" rIns="109650" wrap="square" tIns="548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8"/>
              <a:buFont typeface="Arial"/>
              <a:buNone/>
            </a:pPr>
            <a:r>
              <a:rPr b="1" i="0" lang="en-US" sz="311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                                                                              </a:t>
            </a:r>
            <a:endParaRPr sz="2239"/>
          </a:p>
          <a:p>
            <a:pPr indent="0" lvl="0" marL="0" marR="0" rtl="0" algn="just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ts val="2878"/>
              <a:buFont typeface="Arial"/>
              <a:buNone/>
            </a:pPr>
            <a:r>
              <a:rPr b="0" i="0" lang="en-US" sz="287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Sanjiv Sharma</a:t>
            </a:r>
            <a:endParaRPr sz="2239"/>
          </a:p>
          <a:p>
            <a:pPr indent="0" lvl="0" marL="0" marR="0" rtl="0" algn="just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ts val="3118"/>
              <a:buFont typeface="Arial"/>
              <a:buNone/>
            </a:pPr>
            <a:r>
              <a:rPr b="1" i="0" lang="en-US" sz="311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to: </a:t>
            </a:r>
            <a:endParaRPr sz="2239"/>
          </a:p>
          <a:p>
            <a:pPr indent="0" lvl="0" marL="0" marR="0" rtl="0" algn="just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ts val="2878"/>
              <a:buFont typeface="Arial"/>
              <a:buNone/>
            </a:pPr>
            <a:r>
              <a:rPr b="0" i="0" lang="en-US" sz="2878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Neha Bhardwaj</a:t>
            </a:r>
            <a:endParaRPr sz="2239"/>
          </a:p>
          <a:p>
            <a:pPr indent="0" lvl="0" marL="0" marR="0" rtl="0" algn="just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878"/>
              <a:buFont typeface="Arial"/>
              <a:buNone/>
            </a:pPr>
            <a:r>
              <a:rPr lang="en-US" sz="2878">
                <a:latin typeface="Times New Roman"/>
                <a:ea typeface="Times New Roman"/>
                <a:cs typeface="Times New Roman"/>
                <a:sym typeface="Times New Roman"/>
              </a:rPr>
              <a:t>Prof. Vikram Rajpoot</a:t>
            </a:r>
            <a:endParaRPr b="1" i="0" sz="311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3118"/>
              <a:buFont typeface="Arial"/>
              <a:buNone/>
            </a:pPr>
            <a:r>
              <a:t/>
            </a:r>
            <a:endParaRPr b="1" i="0" sz="3118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656636" y="7841535"/>
            <a:ext cx="8589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075" lIns="146200" spcFirstLastPara="1" rIns="146200" wrap="square" tIns="73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Session: January-  June 2026 , IT Second Year, Fourth Semester  </a:t>
            </a:r>
            <a:endParaRPr b="0" i="0" sz="21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4202599" y="518148"/>
            <a:ext cx="83301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430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Introduction to CPU Scheduling</a:t>
            </a:r>
            <a:endParaRPr b="0" i="0" sz="44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965938" y="2114195"/>
            <a:ext cx="126984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4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scheduling decides which process gets the CPU at any given time. It is crucial for maximising CPU utilisation and system responsiveness, and is a fundamental concept in Operating Systems education.</a:t>
            </a:r>
            <a:endParaRPr i="0" sz="24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966073" y="4365665"/>
            <a:ext cx="4048720" cy="2425065"/>
          </a:xfrm>
          <a:prstGeom prst="roundRect">
            <a:avLst>
              <a:gd fmla="val 4781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257300" y="4656892"/>
            <a:ext cx="2760345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i="0" lang="en-US" sz="23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⚙️</a:t>
            </a:r>
            <a:r>
              <a:rPr i="0" lang="en-US" sz="23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Decision Making</a:t>
            </a:r>
            <a:endParaRPr i="0" sz="2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257300" y="5175052"/>
            <a:ext cx="3466267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3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Decides which process gets the CPU at any given time</a:t>
            </a:r>
            <a:endParaRPr i="0" sz="2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5290780" y="4365665"/>
            <a:ext cx="4048720" cy="2425065"/>
          </a:xfrm>
          <a:prstGeom prst="roundRect">
            <a:avLst>
              <a:gd fmla="val 4781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5582007" y="4656892"/>
            <a:ext cx="2760345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i="0" lang="en-US" sz="23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📈</a:t>
            </a:r>
            <a:r>
              <a:rPr i="0" lang="en-US" sz="23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Optimisation</a:t>
            </a:r>
            <a:endParaRPr i="0" sz="2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582007" y="5175052"/>
            <a:ext cx="3466267" cy="1324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3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Crucial for maximising CPU utilisation and system responsiveness</a:t>
            </a:r>
            <a:endParaRPr i="0" sz="2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9615488" y="4365665"/>
            <a:ext cx="4048839" cy="2425065"/>
          </a:xfrm>
          <a:prstGeom prst="roundRect">
            <a:avLst>
              <a:gd fmla="val 4781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9906714" y="4656892"/>
            <a:ext cx="2760345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i="0" lang="en-US" sz="23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🎓</a:t>
            </a:r>
            <a:r>
              <a:rPr i="0" lang="en-US" sz="23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Education</a:t>
            </a:r>
            <a:endParaRPr i="0" sz="2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9906714" y="5175052"/>
            <a:ext cx="3466386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3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concept in Operating Systems education</a:t>
            </a:r>
            <a:endParaRPr i="0" sz="2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4401386" y="420905"/>
            <a:ext cx="4968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90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Problem S</a:t>
            </a:r>
            <a:r>
              <a:rPr lang="en-US" sz="44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tatement</a:t>
            </a:r>
            <a:endParaRPr b="0" i="0" sz="440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1057523" y="1574081"/>
            <a:ext cx="67113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282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atrick Hand"/>
              <a:buNone/>
            </a:pPr>
            <a:r>
              <a:rPr i="0" lang="en-US" sz="23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algorithms are highly dynamic and time-dependent. Traditional textbooks use static diagrams which fail to show real-time changes such as ready queue updates and preemption. Students struggle to visualise context switching and algorithm performance comparisons.</a:t>
            </a:r>
            <a:endParaRPr i="0" sz="2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966075" y="4978347"/>
            <a:ext cx="4083600" cy="2879400"/>
          </a:xfrm>
          <a:prstGeom prst="roundRect">
            <a:avLst>
              <a:gd fmla="val 6852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935593" y="4978360"/>
            <a:ext cx="121920" cy="2135267"/>
          </a:xfrm>
          <a:prstGeom prst="roundRect">
            <a:avLst>
              <a:gd fmla="val 85585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1336358" y="5257205"/>
            <a:ext cx="2484358" cy="310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atrick Hand"/>
              <a:buNone/>
            </a:pPr>
            <a:r>
              <a:rPr i="0" lang="en-US" sz="21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Nature</a:t>
            </a:r>
            <a:endParaRPr i="0" sz="2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1336358" y="5701784"/>
            <a:ext cx="3434596" cy="755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282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atrick Hand"/>
              <a:buNone/>
            </a:pPr>
            <a:r>
              <a:rPr i="0" lang="en-US" sz="21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algorithms are highly dynamic and time-dependent</a:t>
            </a:r>
            <a:endParaRPr i="0" sz="2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273275" y="4978346"/>
            <a:ext cx="4083600" cy="2879400"/>
          </a:xfrm>
          <a:prstGeom prst="roundRect">
            <a:avLst>
              <a:gd fmla="val 6852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5242798" y="4978360"/>
            <a:ext cx="121920" cy="2135267"/>
          </a:xfrm>
          <a:prstGeom prst="roundRect">
            <a:avLst>
              <a:gd fmla="val 85585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643575" y="5257200"/>
            <a:ext cx="26952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atrick Hand"/>
              <a:buNone/>
            </a:pPr>
            <a:r>
              <a:rPr i="0" lang="en-US" sz="21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Limitations</a:t>
            </a:r>
            <a:endParaRPr i="0" sz="2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643575" y="5701777"/>
            <a:ext cx="37263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282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atrick Hand"/>
              <a:buNone/>
            </a:pPr>
            <a:r>
              <a:rPr i="0" lang="en-US" sz="21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Textbooks use static diagrams which fail to show real-time changes (e.g., ready queue updates, preemption)</a:t>
            </a:r>
            <a:endParaRPr i="0" sz="2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580475" y="4978347"/>
            <a:ext cx="4083600" cy="2879400"/>
          </a:xfrm>
          <a:prstGeom prst="roundRect">
            <a:avLst>
              <a:gd fmla="val 6852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9550003" y="4978360"/>
            <a:ext cx="121920" cy="2135267"/>
          </a:xfrm>
          <a:prstGeom prst="roundRect">
            <a:avLst>
              <a:gd fmla="val 85585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9950768" y="5257205"/>
            <a:ext cx="2484358" cy="310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atrick Hand"/>
              <a:buNone/>
            </a:pPr>
            <a:r>
              <a:rPr i="0" lang="en-US" sz="21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Visualisation Gap</a:t>
            </a:r>
            <a:endParaRPr i="0" sz="2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9950768" y="5701784"/>
            <a:ext cx="3434596" cy="1132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282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atrick Hand"/>
              <a:buNone/>
            </a:pPr>
            <a:r>
              <a:rPr i="0" lang="en-US" sz="21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struggle to visualise context switching and algorithm performance comparisons</a:t>
            </a:r>
            <a:endParaRPr i="0" sz="2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 16:10 format"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8575" y="1346134"/>
            <a:ext cx="487680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3726423" y="624130"/>
            <a:ext cx="5520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430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Solution</a:t>
            </a:r>
            <a:endParaRPr b="0" i="0" sz="440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966075" y="1980700"/>
            <a:ext cx="10600200" cy="17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5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propose a fully interactive, client-side web application that brings scheduling algorithms to life with real-time animated Gantt charts and provides step-by-step plain-English explanations for every tick of the CPU.</a:t>
            </a:r>
            <a:endParaRPr i="0" sz="25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073" y="4363879"/>
            <a:ext cx="690086" cy="6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966073" y="5399008"/>
            <a:ext cx="2760345" cy="34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2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Web App</a:t>
            </a:r>
            <a:endParaRPr i="0" sz="22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966073" y="5909548"/>
            <a:ext cx="4002643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2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fully interactive, client-side web application</a:t>
            </a:r>
            <a:endParaRPr i="0" sz="22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3759" y="4363879"/>
            <a:ext cx="690086" cy="6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5313759" y="5399008"/>
            <a:ext cx="2760345" cy="34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2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Animated Gantt Charts</a:t>
            </a:r>
            <a:endParaRPr i="0" sz="22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313759" y="5909548"/>
            <a:ext cx="4002762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2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Brings algorithms to life with real-time animated Gantt charts</a:t>
            </a:r>
            <a:endParaRPr i="0" sz="22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565" y="4363879"/>
            <a:ext cx="690086" cy="6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9661579" y="5398999"/>
            <a:ext cx="38679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2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Plain-English Explanations</a:t>
            </a:r>
            <a:endParaRPr i="0" sz="22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9661565" y="5987303"/>
            <a:ext cx="40026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i="0" lang="en-US" sz="2250" u="none" cap="none" strike="noStrik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step-by-step plain-English explanations for every tick of the CPU</a:t>
            </a:r>
            <a:endParaRPr i="0" sz="22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4002567" y="387374"/>
            <a:ext cx="79209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45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Core Algorithms Simulated</a:t>
            </a:r>
            <a:endParaRPr b="0" i="0" sz="4400" u="none" cap="none" strike="noStrike"/>
          </a:p>
        </p:txBody>
      </p:sp>
      <p:sp>
        <p:nvSpPr>
          <p:cNvPr id="123" name="Google Shape;123;p17"/>
          <p:cNvSpPr/>
          <p:nvPr/>
        </p:nvSpPr>
        <p:spPr>
          <a:xfrm>
            <a:off x="966073" y="1829050"/>
            <a:ext cx="126984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The simulator implements five classic CPU scheduling algorithms, covering both preemptive and non-preemptive strategies.</a:t>
            </a:r>
            <a:endParaRPr b="0" i="0" sz="22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966073" y="2926318"/>
            <a:ext cx="4115038" cy="1995726"/>
          </a:xfrm>
          <a:prstGeom prst="roundRect">
            <a:avLst>
              <a:gd fmla="val 4647" name="adj"/>
            </a:avLst>
          </a:prstGeom>
          <a:solidFill>
            <a:srgbClr val="E6E6E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1194435" y="3154680"/>
            <a:ext cx="662464" cy="662464"/>
          </a:xfrm>
          <a:prstGeom prst="roundRect">
            <a:avLst>
              <a:gd fmla="val 13801634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601" y="3336846"/>
            <a:ext cx="298013" cy="298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1194435" y="3993713"/>
            <a:ext cx="2208252" cy="2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FCFS</a:t>
            </a:r>
            <a:endParaRPr b="0" i="0" sz="2200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1194435" y="4375666"/>
            <a:ext cx="3658314" cy="31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First Come, First Served</a:t>
            </a:r>
            <a:endParaRPr b="0" i="0" sz="220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5257681" y="2926318"/>
            <a:ext cx="4115038" cy="1995726"/>
          </a:xfrm>
          <a:prstGeom prst="roundRect">
            <a:avLst>
              <a:gd fmla="val 4647" name="adj"/>
            </a:avLst>
          </a:prstGeom>
          <a:solidFill>
            <a:srgbClr val="E6E6E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486043" y="3154680"/>
            <a:ext cx="662464" cy="662464"/>
          </a:xfrm>
          <a:prstGeom prst="roundRect">
            <a:avLst>
              <a:gd fmla="val 13801634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8208" y="3336846"/>
            <a:ext cx="298013" cy="298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5486043" y="3993713"/>
            <a:ext cx="2208252" cy="2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SJF</a:t>
            </a:r>
            <a:endParaRPr b="0" i="0" sz="220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5486052" y="4375676"/>
            <a:ext cx="4665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Shortest Job First (Non-Preemptive)</a:t>
            </a:r>
            <a:endParaRPr b="0" i="0" sz="220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9549302" y="2926325"/>
            <a:ext cx="4780800" cy="1995600"/>
          </a:xfrm>
          <a:prstGeom prst="roundRect">
            <a:avLst>
              <a:gd fmla="val 4647" name="adj"/>
            </a:avLst>
          </a:prstGeom>
          <a:solidFill>
            <a:srgbClr val="E6E6E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9777651" y="3154680"/>
            <a:ext cx="662464" cy="662464"/>
          </a:xfrm>
          <a:prstGeom prst="roundRect">
            <a:avLst>
              <a:gd fmla="val 13801634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9816" y="3336846"/>
            <a:ext cx="298013" cy="298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9777651" y="3993713"/>
            <a:ext cx="2208252" cy="2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SRTF</a:t>
            </a:r>
            <a:endParaRPr b="0" i="0" sz="220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9777650" y="4375675"/>
            <a:ext cx="4552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Shortest Remaining Time First (Preemptive)</a:t>
            </a:r>
            <a:endParaRPr b="0" i="0" sz="220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966073" y="5098613"/>
            <a:ext cx="6260783" cy="1995726"/>
          </a:xfrm>
          <a:prstGeom prst="roundRect">
            <a:avLst>
              <a:gd fmla="val 4647" name="adj"/>
            </a:avLst>
          </a:prstGeom>
          <a:solidFill>
            <a:srgbClr val="E6E6E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1194435" y="5326975"/>
            <a:ext cx="662464" cy="662464"/>
          </a:xfrm>
          <a:prstGeom prst="roundRect">
            <a:avLst>
              <a:gd fmla="val 13801634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601" y="5509141"/>
            <a:ext cx="298013" cy="298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1194435" y="6166009"/>
            <a:ext cx="2208252" cy="2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Priority</a:t>
            </a:r>
            <a:endParaRPr b="0" i="0" sz="220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1194435" y="6547961"/>
            <a:ext cx="5804059" cy="31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Priority Scheduling (Non-Preemptive)</a:t>
            </a:r>
            <a:endParaRPr b="0" i="0" sz="220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7403425" y="5098613"/>
            <a:ext cx="6260902" cy="1995726"/>
          </a:xfrm>
          <a:prstGeom prst="roundRect">
            <a:avLst>
              <a:gd fmla="val 4647" name="adj"/>
            </a:avLst>
          </a:prstGeom>
          <a:solidFill>
            <a:srgbClr val="E6E6E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631787" y="5326975"/>
            <a:ext cx="662464" cy="662464"/>
          </a:xfrm>
          <a:prstGeom prst="roundRect">
            <a:avLst>
              <a:gd fmla="val 13801634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3953" y="5509141"/>
            <a:ext cx="298013" cy="298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7631787" y="6166009"/>
            <a:ext cx="2208252" cy="2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RR</a:t>
            </a:r>
            <a:endParaRPr b="0" i="0" sz="220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7631787" y="6547961"/>
            <a:ext cx="5804178" cy="31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2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Round Robin (Preemptive with Time Quantum)</a:t>
            </a:r>
            <a:endParaRPr b="0" i="0" sz="220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3488127" y="311821"/>
            <a:ext cx="87621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45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Key Features of the Simulator</a:t>
            </a:r>
            <a:endParaRPr b="0" i="0" sz="4400" u="none" cap="none" strike="noStrike"/>
          </a:p>
        </p:txBody>
      </p:sp>
      <p:pic>
        <p:nvPicPr>
          <p:cNvPr descr="preencoded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822" y="2285226"/>
            <a:ext cx="331232" cy="33123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1683682" y="2278376"/>
            <a:ext cx="35103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Animated Gantt Charts</a:t>
            </a:r>
            <a:endParaRPr b="0" i="0" sz="2300" u="none" cap="none" strike="noStrike"/>
          </a:p>
        </p:txBody>
      </p:sp>
      <p:sp>
        <p:nvSpPr>
          <p:cNvPr id="158" name="Google Shape;158;p18"/>
          <p:cNvSpPr/>
          <p:nvPr/>
        </p:nvSpPr>
        <p:spPr>
          <a:xfrm>
            <a:off x="1683663" y="2730937"/>
            <a:ext cx="5362218" cy="31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Combined &amp; Per-Process Views</a:t>
            </a:r>
            <a:endParaRPr b="0" i="0" sz="2300" u="none" cap="none" strike="noStrike"/>
          </a:p>
        </p:txBody>
      </p:sp>
      <p:pic>
        <p:nvPicPr>
          <p:cNvPr descr="preencoded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822" y="3409057"/>
            <a:ext cx="331232" cy="33123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1683680" y="3402196"/>
            <a:ext cx="30438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Performance Dashboard</a:t>
            </a:r>
            <a:endParaRPr b="0" i="0" sz="230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1683663" y="3854768"/>
            <a:ext cx="5362218" cy="31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WT, TAT, CPU Utilisation, Throughput</a:t>
            </a:r>
            <a:endParaRPr b="0" i="0" sz="2300" u="none" cap="none" strike="noStrike"/>
          </a:p>
        </p:txBody>
      </p:sp>
      <p:pic>
        <p:nvPicPr>
          <p:cNvPr descr="preencoded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822" y="4532888"/>
            <a:ext cx="331232" cy="33123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1683663" y="4526042"/>
            <a:ext cx="2593538" cy="2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Tick-by-Tick Explanation Engine</a:t>
            </a:r>
            <a:endParaRPr b="0" i="0" sz="2300" u="none" cap="none" strike="noStrike"/>
          </a:p>
        </p:txBody>
      </p:sp>
      <p:pic>
        <p:nvPicPr>
          <p:cNvPr descr="preencoded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822" y="5555516"/>
            <a:ext cx="331232" cy="33123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1683663" y="5548670"/>
            <a:ext cx="2859167" cy="2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"Compare All Algorithms" Analytics</a:t>
            </a:r>
            <a:endParaRPr b="0" i="0" sz="2300" u="none" cap="none" strike="noStrike"/>
          </a:p>
        </p:txBody>
      </p:sp>
      <p:pic>
        <p:nvPicPr>
          <p:cNvPr descr="preencoded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822" y="6578144"/>
            <a:ext cx="331232" cy="3312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>
            <a:off x="1683663" y="6571298"/>
            <a:ext cx="2567345" cy="27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Interactive Built-in Quiz Module</a:t>
            </a:r>
            <a:endParaRPr b="0" i="0" sz="230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8" title="07_compare_resul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0825" y="1628900"/>
            <a:ext cx="3740074" cy="252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title="08_quiz_pane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37152" y="1565628"/>
            <a:ext cx="3740070" cy="252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title="05_per_process_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0825" y="4425612"/>
            <a:ext cx="3740074" cy="252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title="14_state_diagr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37138" y="4387450"/>
            <a:ext cx="3826111" cy="252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3677825" y="304575"/>
            <a:ext cx="74061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65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System Architecture &amp; Tech Stack</a:t>
            </a:r>
            <a:endParaRPr b="0" i="0" sz="4400" u="none" cap="none" strike="noStrike"/>
          </a:p>
        </p:txBody>
      </p:sp>
      <p:sp>
        <p:nvSpPr>
          <p:cNvPr id="179" name="Google Shape;179;p19"/>
          <p:cNvSpPr/>
          <p:nvPr/>
        </p:nvSpPr>
        <p:spPr>
          <a:xfrm>
            <a:off x="966073" y="1754993"/>
            <a:ext cx="1269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The simulator is built with a modern, lightweight technology stack ensuring fast performance and a smooth user experience with zero server latency.</a:t>
            </a:r>
            <a:endParaRPr b="0" i="0" sz="230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966073" y="3033713"/>
            <a:ext cx="6249353" cy="1959054"/>
          </a:xfrm>
          <a:prstGeom prst="roundRect">
            <a:avLst>
              <a:gd fmla="val 5030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996553" y="3064193"/>
            <a:ext cx="6188393" cy="703898"/>
          </a:xfrm>
          <a:prstGeom prst="roundRect">
            <a:avLst>
              <a:gd fmla="val 8804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4775" y="3236238"/>
            <a:ext cx="351949" cy="351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1231106" y="3967520"/>
            <a:ext cx="2346365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Frontend</a:t>
            </a:r>
            <a:endParaRPr b="0" i="0" sz="2300" u="none" cap="none" strike="noStrike"/>
          </a:p>
        </p:txBody>
      </p:sp>
      <p:sp>
        <p:nvSpPr>
          <p:cNvPr id="184" name="Google Shape;184;p19"/>
          <p:cNvSpPr/>
          <p:nvPr/>
        </p:nvSpPr>
        <p:spPr>
          <a:xfrm>
            <a:off x="1231106" y="4380428"/>
            <a:ext cx="5719286" cy="34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React.js (v18+)</a:t>
            </a:r>
            <a:endParaRPr b="0" i="0" sz="230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>
            <a:off x="7414855" y="3033713"/>
            <a:ext cx="6249472" cy="1959054"/>
          </a:xfrm>
          <a:prstGeom prst="roundRect">
            <a:avLst>
              <a:gd fmla="val 5030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7445335" y="3064193"/>
            <a:ext cx="6188512" cy="703898"/>
          </a:xfrm>
          <a:prstGeom prst="roundRect">
            <a:avLst>
              <a:gd fmla="val 8804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3557" y="3236238"/>
            <a:ext cx="351949" cy="351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/>
          <p:nvPr/>
        </p:nvSpPr>
        <p:spPr>
          <a:xfrm>
            <a:off x="7679888" y="3967520"/>
            <a:ext cx="2346365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Build Tool</a:t>
            </a:r>
            <a:endParaRPr b="0" i="0" sz="230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7679888" y="4380428"/>
            <a:ext cx="5719405" cy="34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Vite (for fast HMR and optimised builds)</a:t>
            </a:r>
            <a:endParaRPr b="0" i="0" sz="2300" u="none" cap="none" strike="noStrike"/>
          </a:p>
        </p:txBody>
      </p:sp>
      <p:sp>
        <p:nvSpPr>
          <p:cNvPr id="190" name="Google Shape;190;p19"/>
          <p:cNvSpPr/>
          <p:nvPr/>
        </p:nvSpPr>
        <p:spPr>
          <a:xfrm>
            <a:off x="966073" y="5192197"/>
            <a:ext cx="6249353" cy="1959054"/>
          </a:xfrm>
          <a:prstGeom prst="roundRect">
            <a:avLst>
              <a:gd fmla="val 5030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996553" y="5222677"/>
            <a:ext cx="6188393" cy="703898"/>
          </a:xfrm>
          <a:prstGeom prst="roundRect">
            <a:avLst>
              <a:gd fmla="val 8804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4775" y="5394722"/>
            <a:ext cx="351949" cy="351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1231106" y="6126004"/>
            <a:ext cx="2346365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Styling</a:t>
            </a:r>
            <a:endParaRPr b="0" i="0" sz="2300" u="none" cap="none" strike="noStrike"/>
          </a:p>
        </p:txBody>
      </p:sp>
      <p:sp>
        <p:nvSpPr>
          <p:cNvPr id="194" name="Google Shape;194;p19"/>
          <p:cNvSpPr/>
          <p:nvPr/>
        </p:nvSpPr>
        <p:spPr>
          <a:xfrm>
            <a:off x="1231106" y="6538913"/>
            <a:ext cx="5719286" cy="34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Custom Vanilla CSS (with CSS variables for theming)</a:t>
            </a:r>
            <a:endParaRPr b="0" i="0" sz="2300" u="none" cap="none" strike="noStrike"/>
          </a:p>
        </p:txBody>
      </p:sp>
      <p:sp>
        <p:nvSpPr>
          <p:cNvPr id="195" name="Google Shape;195;p19"/>
          <p:cNvSpPr/>
          <p:nvPr/>
        </p:nvSpPr>
        <p:spPr>
          <a:xfrm>
            <a:off x="7414855" y="5192197"/>
            <a:ext cx="6249472" cy="1959054"/>
          </a:xfrm>
          <a:prstGeom prst="roundRect">
            <a:avLst>
              <a:gd fmla="val 5030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7445335" y="5222677"/>
            <a:ext cx="6188512" cy="703898"/>
          </a:xfrm>
          <a:prstGeom prst="roundRect">
            <a:avLst>
              <a:gd fmla="val 8804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3557" y="5394722"/>
            <a:ext cx="351949" cy="351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7679888" y="6126004"/>
            <a:ext cx="2346365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Architecture</a:t>
            </a:r>
            <a:endParaRPr b="0" i="0" sz="2300" u="none" cap="none" strike="noStrike"/>
          </a:p>
        </p:txBody>
      </p:sp>
      <p:sp>
        <p:nvSpPr>
          <p:cNvPr id="199" name="Google Shape;199;p19"/>
          <p:cNvSpPr/>
          <p:nvPr/>
        </p:nvSpPr>
        <p:spPr>
          <a:xfrm>
            <a:off x="7679888" y="6538913"/>
            <a:ext cx="5719405" cy="34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800"/>
              <a:buFont typeface="Patrick Hand"/>
              <a:buNone/>
            </a:pPr>
            <a:r>
              <a:rPr b="0" i="0" lang="en-US" sz="2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100% Client-side (No backend = zero latency)</a:t>
            </a:r>
            <a:endParaRPr b="0" i="0" sz="2300" u="none" cap="none" strike="noStrike"/>
          </a:p>
        </p:txBody>
      </p:sp>
      <p:sp>
        <p:nvSpPr>
          <p:cNvPr id="200" name="Google Shape;200;p19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4445600" y="326398"/>
            <a:ext cx="77463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430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User Interface &amp; Dark/Light Mode</a:t>
            </a:r>
            <a:endParaRPr b="0" i="0" sz="4400" u="none" cap="none" strike="noStrike"/>
          </a:p>
        </p:txBody>
      </p:sp>
      <p:sp>
        <p:nvSpPr>
          <p:cNvPr id="207" name="Google Shape;207;p20"/>
          <p:cNvSpPr/>
          <p:nvPr/>
        </p:nvSpPr>
        <p:spPr>
          <a:xfrm>
            <a:off x="965998" y="1810450"/>
            <a:ext cx="126984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The simulator features a modern, responsive UI with full Dark and Light mode support, allowing users to choose their preferred viewing experience.</a:t>
            </a:r>
            <a:endParaRPr b="0" i="0" sz="2450" u="none" cap="none" strike="noStrike"/>
          </a:p>
        </p:txBody>
      </p:sp>
      <p:sp>
        <p:nvSpPr>
          <p:cNvPr id="208" name="Google Shape;208;p20"/>
          <p:cNvSpPr/>
          <p:nvPr/>
        </p:nvSpPr>
        <p:spPr>
          <a:xfrm>
            <a:off x="7659529" y="4843820"/>
            <a:ext cx="2760345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📸</a:t>
            </a: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Light Mode Screenshot</a:t>
            </a:r>
            <a:endParaRPr b="0" i="0" sz="2150" u="none" cap="none" strike="noStrike"/>
          </a:p>
        </p:txBody>
      </p:sp>
      <p:sp>
        <p:nvSpPr>
          <p:cNvPr id="209" name="Google Shape;209;p20"/>
          <p:cNvSpPr/>
          <p:nvPr/>
        </p:nvSpPr>
        <p:spPr>
          <a:xfrm>
            <a:off x="7659529" y="5472351"/>
            <a:ext cx="6012418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Insert screenshot: </a:t>
            </a:r>
            <a:r>
              <a:rPr b="0" i="0" lang="en-US" sz="2150" u="none" cap="none" strike="noStrike">
                <a:solidFill>
                  <a:srgbClr val="383838"/>
                </a:solidFill>
                <a:highlight>
                  <a:srgbClr val="EAEAEA"/>
                </a:highlight>
                <a:latin typeface="Consolas"/>
                <a:ea typeface="Consolas"/>
                <a:cs typeface="Consolas"/>
                <a:sym typeface="Consolas"/>
              </a:rPr>
              <a:t>screenshots/10_light_mode.png</a:t>
            </a: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here.</a:t>
            </a:r>
            <a:endParaRPr b="0" i="0" sz="215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20" title="10_light_m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9529" y="3569148"/>
            <a:ext cx="6523974" cy="4399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title="01_dark_mode_ma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500" y="3569150"/>
            <a:ext cx="6523987" cy="439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/>
          <p:nvPr/>
        </p:nvSpPr>
        <p:spPr>
          <a:xfrm>
            <a:off x="4554798" y="241039"/>
            <a:ext cx="5520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4300"/>
              <a:buFont typeface="Patrick Hand"/>
              <a:buNone/>
            </a:pPr>
            <a:r>
              <a:rPr b="0" i="0" lang="en-US" sz="4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Real-time Visualisation</a:t>
            </a:r>
            <a:endParaRPr b="0" i="0" sz="4300" u="none" cap="none" strike="noStrike"/>
          </a:p>
        </p:txBody>
      </p:sp>
      <p:sp>
        <p:nvSpPr>
          <p:cNvPr id="219" name="Google Shape;219;p21"/>
          <p:cNvSpPr/>
          <p:nvPr/>
        </p:nvSpPr>
        <p:spPr>
          <a:xfrm>
            <a:off x="889873" y="1783455"/>
            <a:ext cx="126984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The animated Gantt chart updates in real time, showing exactly which process is running at each CPU tick, alongside a detailed performance statistics table.</a:t>
            </a:r>
            <a:endParaRPr b="0" i="0" sz="2450" u="none" cap="none" strike="noStrike"/>
          </a:p>
        </p:txBody>
      </p:sp>
      <p:sp>
        <p:nvSpPr>
          <p:cNvPr id="220" name="Google Shape;220;p21"/>
          <p:cNvSpPr/>
          <p:nvPr/>
        </p:nvSpPr>
        <p:spPr>
          <a:xfrm>
            <a:off x="1043345" y="4836200"/>
            <a:ext cx="2778800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📸</a:t>
            </a: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Gantt Chart Screenshot</a:t>
            </a:r>
            <a:endParaRPr b="0" i="0" sz="2150" u="none" cap="none" strike="noStrike"/>
          </a:p>
        </p:txBody>
      </p:sp>
      <p:sp>
        <p:nvSpPr>
          <p:cNvPr id="221" name="Google Shape;221;p21"/>
          <p:cNvSpPr/>
          <p:nvPr/>
        </p:nvSpPr>
        <p:spPr>
          <a:xfrm>
            <a:off x="1043345" y="5464731"/>
            <a:ext cx="5857875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Insert screenshot: </a:t>
            </a:r>
            <a:r>
              <a:rPr b="0" i="0" lang="en-US" sz="2150" u="none" cap="none" strike="noStrike">
                <a:solidFill>
                  <a:srgbClr val="383838"/>
                </a:solidFill>
                <a:highlight>
                  <a:srgbClr val="BFBFBF"/>
                </a:highlight>
                <a:latin typeface="Consolas"/>
                <a:ea typeface="Consolas"/>
                <a:cs typeface="Consolas"/>
                <a:sym typeface="Consolas"/>
              </a:rPr>
              <a:t>screenshots/03_gantt_chart_dark.png</a:t>
            </a: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here.</a:t>
            </a:r>
            <a:endParaRPr b="0" i="0" sz="2150" u="none" cap="none" strike="noStrike"/>
          </a:p>
        </p:txBody>
      </p:sp>
      <p:sp>
        <p:nvSpPr>
          <p:cNvPr id="222" name="Google Shape;222;p21"/>
          <p:cNvSpPr/>
          <p:nvPr/>
        </p:nvSpPr>
        <p:spPr>
          <a:xfrm>
            <a:off x="7659529" y="4836200"/>
            <a:ext cx="2760345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📸</a:t>
            </a: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Stats Table Screenshot</a:t>
            </a:r>
            <a:endParaRPr b="0" i="0" sz="2150" u="none" cap="none" strike="noStrike"/>
          </a:p>
        </p:txBody>
      </p:sp>
      <p:sp>
        <p:nvSpPr>
          <p:cNvPr id="223" name="Google Shape;223;p21"/>
          <p:cNvSpPr/>
          <p:nvPr/>
        </p:nvSpPr>
        <p:spPr>
          <a:xfrm>
            <a:off x="7659529" y="5464731"/>
            <a:ext cx="6012418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Insert screenshot: </a:t>
            </a:r>
            <a:r>
              <a:rPr b="0" i="0" lang="en-US" sz="2150" u="none" cap="none" strike="noStrike">
                <a:solidFill>
                  <a:srgbClr val="383838"/>
                </a:solidFill>
                <a:highlight>
                  <a:srgbClr val="EAEAEA"/>
                </a:highlight>
                <a:latin typeface="Consolas"/>
                <a:ea typeface="Consolas"/>
                <a:cs typeface="Consolas"/>
                <a:sym typeface="Consolas"/>
              </a:rPr>
              <a:t>screenshots/04_stats_table.png</a:t>
            </a: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here.</a:t>
            </a:r>
            <a:endParaRPr b="0" i="0" sz="2150" u="none" cap="none" strike="noStrike"/>
          </a:p>
        </p:txBody>
      </p:sp>
      <p:sp>
        <p:nvSpPr>
          <p:cNvPr id="224" name="Google Shape;224;p21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1" title="03_gantt_chart_d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350" y="3518750"/>
            <a:ext cx="6012424" cy="37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title="04_stats_tab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1007" y="3518751"/>
            <a:ext cx="5610069" cy="378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5048223" y="222072"/>
            <a:ext cx="5520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4300"/>
              <a:buFont typeface="Patrick Hand"/>
              <a:buNone/>
            </a:pPr>
            <a:r>
              <a:rPr b="0" i="0" lang="en-US" sz="43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Comparative Analytics</a:t>
            </a:r>
            <a:endParaRPr b="0" i="0" sz="4300" u="none" cap="none" strike="noStrike"/>
          </a:p>
        </p:txBody>
      </p:sp>
      <p:sp>
        <p:nvSpPr>
          <p:cNvPr id="233" name="Google Shape;233;p22"/>
          <p:cNvSpPr/>
          <p:nvPr/>
        </p:nvSpPr>
        <p:spPr>
          <a:xfrm>
            <a:off x="966000" y="1627586"/>
            <a:ext cx="126984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The "Compare All Algorithms" feature allows students to instantly see how different scheduling strategies perform on the same set of processes, making it easy to understand trade-offs in Waiting Time, Turnaround Time, and CPU Utilisation.</a:t>
            </a:r>
            <a:endParaRPr b="0" i="0" sz="2450" u="none" cap="none" strike="noStrike"/>
          </a:p>
        </p:txBody>
      </p:sp>
      <p:sp>
        <p:nvSpPr>
          <p:cNvPr id="234" name="Google Shape;234;p22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2" title="07_compare_resul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665" y="3434675"/>
            <a:ext cx="7581075" cy="41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/>
          <p:nvPr/>
        </p:nvSpPr>
        <p:spPr>
          <a:xfrm>
            <a:off x="4554748" y="149941"/>
            <a:ext cx="5520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430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Conclusion</a:t>
            </a:r>
            <a:endParaRPr b="0" i="0" sz="4400" u="none" cap="none" strike="noStrike"/>
          </a:p>
        </p:txBody>
      </p:sp>
      <p:sp>
        <p:nvSpPr>
          <p:cNvPr id="242" name="Google Shape;242;p23"/>
          <p:cNvSpPr/>
          <p:nvPr/>
        </p:nvSpPr>
        <p:spPr>
          <a:xfrm>
            <a:off x="950575" y="2053064"/>
            <a:ext cx="12698400" cy="10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This project successfully bridges the gap between theoretical textbook concepts and practical understanding of CPU scheduling through an engaging, interactive web application.</a:t>
            </a:r>
            <a:endParaRPr b="0" i="0" sz="2450" u="none" cap="none" strike="noStrike"/>
          </a:p>
        </p:txBody>
      </p:sp>
      <p:sp>
        <p:nvSpPr>
          <p:cNvPr id="243" name="Google Shape;243;p23"/>
          <p:cNvSpPr/>
          <p:nvPr/>
        </p:nvSpPr>
        <p:spPr>
          <a:xfrm>
            <a:off x="966073" y="4365665"/>
            <a:ext cx="12698254" cy="2425065"/>
          </a:xfrm>
          <a:prstGeom prst="roundRect">
            <a:avLst>
              <a:gd fmla="val 4781" name="adj"/>
            </a:avLst>
          </a:prstGeom>
          <a:solidFill>
            <a:srgbClr val="E6E6E6"/>
          </a:solidFill>
          <a:ln cap="flat" cmpd="sng" w="152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4" name="Google Shape;244;p23"/>
          <p:cNvSpPr/>
          <p:nvPr/>
        </p:nvSpPr>
        <p:spPr>
          <a:xfrm>
            <a:off x="981313" y="4380905"/>
            <a:ext cx="4222552" cy="2394585"/>
          </a:xfrm>
          <a:prstGeom prst="roundRect">
            <a:avLst>
              <a:gd fmla="val 4842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5" name="Google Shape;245;p23"/>
          <p:cNvSpPr/>
          <p:nvPr/>
        </p:nvSpPr>
        <p:spPr>
          <a:xfrm>
            <a:off x="1257300" y="4656892"/>
            <a:ext cx="2760345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✅</a:t>
            </a: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Accurate Tool</a:t>
            </a:r>
            <a:endParaRPr b="0" i="0" sz="2450" u="none" cap="none" strike="noStrike"/>
          </a:p>
        </p:txBody>
      </p:sp>
      <p:sp>
        <p:nvSpPr>
          <p:cNvPr id="246" name="Google Shape;246;p23"/>
          <p:cNvSpPr/>
          <p:nvPr/>
        </p:nvSpPr>
        <p:spPr>
          <a:xfrm>
            <a:off x="1257300" y="5175052"/>
            <a:ext cx="3670578" cy="1324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Successfully created a mathematically accurate OS educational tool</a:t>
            </a:r>
            <a:endParaRPr b="0" i="0" sz="2450" u="none" cap="none" strike="noStrike"/>
          </a:p>
        </p:txBody>
      </p:sp>
      <p:sp>
        <p:nvSpPr>
          <p:cNvPr id="247" name="Google Shape;247;p23"/>
          <p:cNvSpPr/>
          <p:nvPr/>
        </p:nvSpPr>
        <p:spPr>
          <a:xfrm>
            <a:off x="5203865" y="4380905"/>
            <a:ext cx="4222552" cy="23945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8" name="Google Shape;248;p23"/>
          <p:cNvSpPr/>
          <p:nvPr/>
        </p:nvSpPr>
        <p:spPr>
          <a:xfrm>
            <a:off x="5203865" y="4380905"/>
            <a:ext cx="38100" cy="2394585"/>
          </a:xfrm>
          <a:prstGeom prst="roundRect">
            <a:avLst>
              <a:gd fmla="val 304301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9" name="Google Shape;249;p23"/>
          <p:cNvSpPr/>
          <p:nvPr/>
        </p:nvSpPr>
        <p:spPr>
          <a:xfrm>
            <a:off x="5479852" y="4656892"/>
            <a:ext cx="2760345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🔗</a:t>
            </a: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Bridged the Gap</a:t>
            </a:r>
            <a:endParaRPr b="0" i="0" sz="2450" u="none" cap="none" strike="noStrike"/>
          </a:p>
        </p:txBody>
      </p:sp>
      <p:sp>
        <p:nvSpPr>
          <p:cNvPr id="250" name="Google Shape;250;p23"/>
          <p:cNvSpPr/>
          <p:nvPr/>
        </p:nvSpPr>
        <p:spPr>
          <a:xfrm>
            <a:off x="5479852" y="5175052"/>
            <a:ext cx="3670578" cy="1324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Bridged the gap between theoretical textbook concepts and practical understanding</a:t>
            </a:r>
            <a:endParaRPr b="0" i="0" sz="2450" u="none" cap="none" strike="noStrike"/>
          </a:p>
        </p:txBody>
      </p:sp>
      <p:sp>
        <p:nvSpPr>
          <p:cNvPr id="251" name="Google Shape;251;p23"/>
          <p:cNvSpPr/>
          <p:nvPr/>
        </p:nvSpPr>
        <p:spPr>
          <a:xfrm>
            <a:off x="9426416" y="4380905"/>
            <a:ext cx="4222552" cy="2394585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2" name="Google Shape;252;p23"/>
          <p:cNvSpPr/>
          <p:nvPr/>
        </p:nvSpPr>
        <p:spPr>
          <a:xfrm>
            <a:off x="9426416" y="4380905"/>
            <a:ext cx="38100" cy="2394585"/>
          </a:xfrm>
          <a:prstGeom prst="roundRect">
            <a:avLst>
              <a:gd fmla="val 304301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3" name="Google Shape;253;p23"/>
          <p:cNvSpPr/>
          <p:nvPr/>
        </p:nvSpPr>
        <p:spPr>
          <a:xfrm>
            <a:off x="9702403" y="4656892"/>
            <a:ext cx="2760345" cy="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🎨</a:t>
            </a: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Modern UI</a:t>
            </a:r>
            <a:endParaRPr b="0" i="0" sz="2450" u="none" cap="none" strike="noStrike"/>
          </a:p>
        </p:txBody>
      </p:sp>
      <p:sp>
        <p:nvSpPr>
          <p:cNvPr id="254" name="Google Shape;254;p23"/>
          <p:cNvSpPr/>
          <p:nvPr/>
        </p:nvSpPr>
        <p:spPr>
          <a:xfrm>
            <a:off x="9702403" y="5175052"/>
            <a:ext cx="3670578" cy="88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b="0" i="0" lang="en-US" sz="24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Delivered a modern, engaging UI to enhance technical learning</a:t>
            </a:r>
            <a:endParaRPr b="0" i="0" sz="2450" u="none" cap="none" strike="noStrike"/>
          </a:p>
        </p:txBody>
      </p:sp>
      <p:sp>
        <p:nvSpPr>
          <p:cNvPr id="255" name="Google Shape;255;p23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5077804" y="488563"/>
            <a:ext cx="44748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500"/>
              <a:buFont typeface="Patrick Hand"/>
              <a:buNone/>
            </a:pPr>
            <a:r>
              <a:rPr b="0" i="0" lang="en-US" sz="44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Future Enhancements</a:t>
            </a:r>
            <a:endParaRPr b="0" i="0" sz="4400" u="none" cap="none" strike="noStrike"/>
          </a:p>
        </p:txBody>
      </p:sp>
      <p:sp>
        <p:nvSpPr>
          <p:cNvPr id="262" name="Google Shape;262;p24"/>
          <p:cNvSpPr/>
          <p:nvPr/>
        </p:nvSpPr>
        <p:spPr>
          <a:xfrm>
            <a:off x="1140004" y="1763110"/>
            <a:ext cx="123504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The following features are planned to extend the simulator's capabilities and make it a more comprehensive tool for studying CPU scheduling algorithms.</a:t>
            </a:r>
            <a:endParaRPr b="0" i="0" sz="2150" u="none" cap="none" strike="noStrike"/>
          </a:p>
        </p:txBody>
      </p:sp>
      <p:sp>
        <p:nvSpPr>
          <p:cNvPr id="263" name="Google Shape;263;p24"/>
          <p:cNvSpPr/>
          <p:nvPr/>
        </p:nvSpPr>
        <p:spPr>
          <a:xfrm>
            <a:off x="1139904" y="2902268"/>
            <a:ext cx="6073800" cy="2241900"/>
          </a:xfrm>
          <a:prstGeom prst="roundRect">
            <a:avLst>
              <a:gd fmla="val 4192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24"/>
          <p:cNvSpPr/>
          <p:nvPr/>
        </p:nvSpPr>
        <p:spPr>
          <a:xfrm>
            <a:off x="1170384" y="2932748"/>
            <a:ext cx="6012900" cy="671100"/>
          </a:xfrm>
          <a:prstGeom prst="roundRect">
            <a:avLst>
              <a:gd fmla="val 8552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24"/>
          <p:cNvSpPr/>
          <p:nvPr/>
        </p:nvSpPr>
        <p:spPr>
          <a:xfrm>
            <a:off x="4009073" y="3054787"/>
            <a:ext cx="335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600"/>
              <a:buFont typeface="Patrick Hand"/>
              <a:buNone/>
            </a:pPr>
            <a:r>
              <a:rPr b="0" i="0" lang="en-US" sz="30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3000" u="none" cap="none" strike="noStrike"/>
          </a:p>
        </p:txBody>
      </p:sp>
      <p:sp>
        <p:nvSpPr>
          <p:cNvPr id="266" name="Google Shape;266;p24"/>
          <p:cNvSpPr/>
          <p:nvPr/>
        </p:nvSpPr>
        <p:spPr>
          <a:xfrm>
            <a:off x="1394098" y="3806678"/>
            <a:ext cx="43995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Multilevel Feedback Queue (MLFQ)</a:t>
            </a:r>
            <a:endParaRPr b="0" i="0" sz="2150" u="none" cap="none" strike="noStrike"/>
          </a:p>
        </p:txBody>
      </p:sp>
      <p:sp>
        <p:nvSpPr>
          <p:cNvPr id="267" name="Google Shape;267;p24"/>
          <p:cNvSpPr/>
          <p:nvPr/>
        </p:nvSpPr>
        <p:spPr>
          <a:xfrm>
            <a:off x="1394103" y="4207788"/>
            <a:ext cx="5565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Implement MLFQ scheduling to dynamically adjust process priorities based on execution history.</a:t>
            </a:r>
            <a:endParaRPr b="0" i="0" sz="2150" u="none" cap="none" strike="noStrike"/>
          </a:p>
        </p:txBody>
      </p:sp>
      <p:sp>
        <p:nvSpPr>
          <p:cNvPr id="268" name="Google Shape;268;p24"/>
          <p:cNvSpPr/>
          <p:nvPr/>
        </p:nvSpPr>
        <p:spPr>
          <a:xfrm>
            <a:off x="7416522" y="2902268"/>
            <a:ext cx="6073800" cy="2241900"/>
          </a:xfrm>
          <a:prstGeom prst="roundRect">
            <a:avLst>
              <a:gd fmla="val 4192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9" name="Google Shape;269;p24"/>
          <p:cNvSpPr/>
          <p:nvPr/>
        </p:nvSpPr>
        <p:spPr>
          <a:xfrm>
            <a:off x="7447002" y="2932748"/>
            <a:ext cx="6012900" cy="671100"/>
          </a:xfrm>
          <a:prstGeom prst="roundRect">
            <a:avLst>
              <a:gd fmla="val 8552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24"/>
          <p:cNvSpPr/>
          <p:nvPr/>
        </p:nvSpPr>
        <p:spPr>
          <a:xfrm>
            <a:off x="10285690" y="3054787"/>
            <a:ext cx="335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600"/>
              <a:buFont typeface="Patrick Hand"/>
              <a:buNone/>
            </a:pPr>
            <a:r>
              <a:rPr b="0" i="0" lang="en-US" sz="30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3000" u="none" cap="none" strike="noStrike"/>
          </a:p>
        </p:txBody>
      </p:sp>
      <p:sp>
        <p:nvSpPr>
          <p:cNvPr id="271" name="Google Shape;271;p24"/>
          <p:cNvSpPr/>
          <p:nvPr/>
        </p:nvSpPr>
        <p:spPr>
          <a:xfrm>
            <a:off x="7670727" y="3806674"/>
            <a:ext cx="4015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Preemptive Priority Scheduling</a:t>
            </a:r>
            <a:endParaRPr b="0" i="0" sz="2150" u="none" cap="none" strike="noStrike"/>
          </a:p>
        </p:txBody>
      </p:sp>
      <p:sp>
        <p:nvSpPr>
          <p:cNvPr id="272" name="Google Shape;272;p24"/>
          <p:cNvSpPr/>
          <p:nvPr/>
        </p:nvSpPr>
        <p:spPr>
          <a:xfrm>
            <a:off x="7670721" y="4207788"/>
            <a:ext cx="5565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Add support for preemptive priority-based scheduling where higher-priority processes interrupt lower-priority ones.</a:t>
            </a:r>
            <a:endParaRPr b="0" i="0" sz="2150" u="none" cap="none" strike="noStrike"/>
          </a:p>
        </p:txBody>
      </p:sp>
      <p:sp>
        <p:nvSpPr>
          <p:cNvPr id="273" name="Google Shape;273;p24"/>
          <p:cNvSpPr/>
          <p:nvPr/>
        </p:nvSpPr>
        <p:spPr>
          <a:xfrm>
            <a:off x="1139904" y="5346978"/>
            <a:ext cx="6073800" cy="2241900"/>
          </a:xfrm>
          <a:prstGeom prst="roundRect">
            <a:avLst>
              <a:gd fmla="val 4192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" name="Google Shape;274;p24"/>
          <p:cNvSpPr/>
          <p:nvPr/>
        </p:nvSpPr>
        <p:spPr>
          <a:xfrm>
            <a:off x="1170384" y="5377458"/>
            <a:ext cx="6012900" cy="671100"/>
          </a:xfrm>
          <a:prstGeom prst="roundRect">
            <a:avLst>
              <a:gd fmla="val 8552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" name="Google Shape;275;p24"/>
          <p:cNvSpPr/>
          <p:nvPr/>
        </p:nvSpPr>
        <p:spPr>
          <a:xfrm>
            <a:off x="4009073" y="5499497"/>
            <a:ext cx="335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600"/>
              <a:buFont typeface="Patrick Hand"/>
              <a:buNone/>
            </a:pPr>
            <a:r>
              <a:rPr b="0" i="0" lang="en-US" sz="30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3000" u="none" cap="none" strike="noStrike"/>
          </a:p>
        </p:txBody>
      </p:sp>
      <p:sp>
        <p:nvSpPr>
          <p:cNvPr id="276" name="Google Shape;276;p24"/>
          <p:cNvSpPr/>
          <p:nvPr/>
        </p:nvSpPr>
        <p:spPr>
          <a:xfrm>
            <a:off x="1394098" y="6251374"/>
            <a:ext cx="40158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Context Switch Time Penalties</a:t>
            </a:r>
            <a:endParaRPr b="0" i="0" sz="2150" u="none" cap="none" strike="noStrike"/>
          </a:p>
        </p:txBody>
      </p:sp>
      <p:sp>
        <p:nvSpPr>
          <p:cNvPr id="277" name="Google Shape;277;p24"/>
          <p:cNvSpPr/>
          <p:nvPr/>
        </p:nvSpPr>
        <p:spPr>
          <a:xfrm>
            <a:off x="1394103" y="6652498"/>
            <a:ext cx="5565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Include context switch overhead (Δt) to simulate real-world CPU behaviour more accurately.</a:t>
            </a:r>
            <a:endParaRPr b="0" i="0" sz="2150" u="none" cap="none" strike="noStrike"/>
          </a:p>
        </p:txBody>
      </p:sp>
      <p:sp>
        <p:nvSpPr>
          <p:cNvPr id="278" name="Google Shape;278;p24"/>
          <p:cNvSpPr/>
          <p:nvPr/>
        </p:nvSpPr>
        <p:spPr>
          <a:xfrm>
            <a:off x="7416522" y="5346978"/>
            <a:ext cx="6073800" cy="2241900"/>
          </a:xfrm>
          <a:prstGeom prst="roundRect">
            <a:avLst>
              <a:gd fmla="val 4192" name="adj"/>
            </a:avLst>
          </a:prstGeom>
          <a:solidFill>
            <a:srgbClr val="F7F7F7"/>
          </a:solidFill>
          <a:ln cap="flat" cmpd="sng" w="304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" name="Google Shape;279;p24"/>
          <p:cNvSpPr/>
          <p:nvPr/>
        </p:nvSpPr>
        <p:spPr>
          <a:xfrm>
            <a:off x="7447002" y="5377458"/>
            <a:ext cx="6012900" cy="671100"/>
          </a:xfrm>
          <a:prstGeom prst="roundRect">
            <a:avLst>
              <a:gd fmla="val 8552" name="adj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0" name="Google Shape;280;p24"/>
          <p:cNvSpPr/>
          <p:nvPr/>
        </p:nvSpPr>
        <p:spPr>
          <a:xfrm>
            <a:off x="10285690" y="5499497"/>
            <a:ext cx="3354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600"/>
              <a:buFont typeface="Patrick Hand"/>
              <a:buNone/>
            </a:pPr>
            <a:r>
              <a:rPr b="0" i="0" lang="en-US" sz="30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3000" u="none" cap="none" strike="noStrike"/>
          </a:p>
        </p:txBody>
      </p:sp>
      <p:sp>
        <p:nvSpPr>
          <p:cNvPr id="281" name="Google Shape;281;p24"/>
          <p:cNvSpPr/>
          <p:nvPr/>
        </p:nvSpPr>
        <p:spPr>
          <a:xfrm>
            <a:off x="7670728" y="6251375"/>
            <a:ext cx="37632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Export Results to PDF/CSV</a:t>
            </a:r>
            <a:endParaRPr b="0" i="0" sz="2150" u="none" cap="none" strike="noStrike"/>
          </a:p>
        </p:txBody>
      </p:sp>
      <p:sp>
        <p:nvSpPr>
          <p:cNvPr id="282" name="Google Shape;282;p24"/>
          <p:cNvSpPr/>
          <p:nvPr/>
        </p:nvSpPr>
        <p:spPr>
          <a:xfrm>
            <a:off x="7670721" y="6652498"/>
            <a:ext cx="5565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Patrick Hand"/>
              <a:buNone/>
            </a:pPr>
            <a:r>
              <a:rPr b="0" i="0" lang="en-US" sz="215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Enable users to export scheduling results and performance metrics for assignments and reports.</a:t>
            </a:r>
            <a:endParaRPr b="0" i="0" sz="2150" u="none" cap="none" strike="noStrike"/>
          </a:p>
        </p:txBody>
      </p:sp>
      <p:sp>
        <p:nvSpPr>
          <p:cNvPr id="283" name="Google Shape;283;p24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/>
          <p:nvPr/>
        </p:nvSpPr>
        <p:spPr>
          <a:xfrm>
            <a:off x="3908100" y="2716493"/>
            <a:ext cx="681420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5350"/>
              <a:buFont typeface="Patrick Hand"/>
              <a:buNone/>
            </a:pPr>
            <a:r>
              <a:rPr b="0" i="0" lang="en-US" sz="12000" u="none" cap="none" strike="noStrik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Thank You!</a:t>
            </a:r>
            <a:endParaRPr b="0" i="0" sz="12000" u="none" cap="none" strike="noStrike"/>
          </a:p>
        </p:txBody>
      </p:sp>
      <p:sp>
        <p:nvSpPr>
          <p:cNvPr id="290" name="Google Shape;290;p25"/>
          <p:cNvSpPr/>
          <p:nvPr/>
        </p:nvSpPr>
        <p:spPr>
          <a:xfrm>
            <a:off x="12556200" y="7395600"/>
            <a:ext cx="2074200" cy="83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